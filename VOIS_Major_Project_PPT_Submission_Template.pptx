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61" d="100"/>
          <a:sy n="61" d="100"/>
        </p:scale>
        <p:origin x="804" y="4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01599" y="3583914"/>
            <a:ext cx="5811521" cy="992555"/>
          </a:xfrm>
        </p:spPr>
        <p:txBody>
          <a:bodyPr vert="horz" lIns="91440" tIns="45720" rIns="91440" bIns="45720" rtlCol="0" anchor="t">
            <a:normAutofit fontScale="85000" lnSpcReduction="20000"/>
          </a:bodyPr>
          <a:lstStyle/>
          <a:p>
            <a:pPr algn="just"/>
            <a:r>
              <a:rPr lang="en-US" b="0" dirty="0">
                <a:solidFill>
                  <a:schemeClr val="tx1"/>
                </a:solidFill>
              </a:rPr>
              <a:t>Student Name-Sanskruti Ramesh Dumbre</a:t>
            </a:r>
          </a:p>
          <a:p>
            <a:pPr algn="just"/>
            <a:r>
              <a:rPr lang="en-US" b="0" dirty="0" err="1">
                <a:solidFill>
                  <a:schemeClr val="tx1"/>
                </a:solidFill>
              </a:rPr>
              <a:t>CollegeName</a:t>
            </a:r>
            <a:r>
              <a:rPr lang="en-US" b="0" dirty="0">
                <a:solidFill>
                  <a:schemeClr val="tx1"/>
                </a:solidFill>
              </a:rPr>
              <a:t>-</a:t>
            </a:r>
            <a:r>
              <a:rPr lang="en-IN" b="0" dirty="0">
                <a:solidFill>
                  <a:schemeClr val="tx1"/>
                </a:solidFill>
              </a:rPr>
              <a:t>RASIKLAL.M.DHARIWAL </a:t>
            </a:r>
          </a:p>
          <a:p>
            <a:pPr algn="just"/>
            <a:r>
              <a:rPr lang="en-IN" b="0" dirty="0">
                <a:solidFill>
                  <a:schemeClr val="tx1"/>
                </a:solidFill>
              </a:rPr>
              <a:t>SINHGAD TECHNICAL INSTITUTE</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344189"/>
            <a:ext cx="11178356" cy="743448"/>
          </a:xfrm>
        </p:spPr>
        <p:txBody>
          <a:bodyPr>
            <a:normAutofit fontScale="90000"/>
          </a:bodyPr>
          <a:lstStyle/>
          <a:p>
            <a:r>
              <a:rPr lang="en-GB" sz="3200" dirty="0"/>
              <a:t>Project Title:-</a:t>
            </a:r>
            <a:r>
              <a:rPr lang="en-US" sz="3200" dirty="0" err="1"/>
              <a:t>Seasonal_Agriculture_Performance_Data_Analytics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49245" y="2618304"/>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82880" y="4576469"/>
            <a:ext cx="3950888" cy="646331"/>
          </a:xfrm>
          <a:prstGeom prst="rect">
            <a:avLst/>
          </a:prstGeom>
          <a:noFill/>
        </p:spPr>
        <p:txBody>
          <a:bodyPr wrap="square" rtlCol="0">
            <a:spAutoFit/>
          </a:bodyPr>
          <a:lstStyle/>
          <a:p>
            <a:r>
              <a:rPr lang="en-US" b="1" dirty="0"/>
              <a:t>AICTE STU ID :</a:t>
            </a:r>
            <a:r>
              <a:rPr lang="en-IN" dirty="0"/>
              <a:t>STU666aa75ff03a31718265695 </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lvl="0"/>
            <a:r>
              <a:rPr lang="en-IN" sz="2800" dirty="0"/>
              <a:t>Agricultural performance varies across crops, seasons, and regions. </a:t>
            </a:r>
          </a:p>
          <a:p>
            <a:pPr lvl="0"/>
            <a:r>
              <a:rPr lang="en-IN" sz="2800" dirty="0"/>
              <a:t>Factors such as weather, soil conditions, irrigation, and fertilizers may influence crop productivity. </a:t>
            </a:r>
          </a:p>
          <a:p>
            <a:pPr lvl="0"/>
            <a:r>
              <a:rPr lang="en-IN" sz="2800" dirty="0"/>
              <a:t>Differences in production cost, revenue, and profit affect overall farm performance. </a:t>
            </a:r>
          </a:p>
          <a:p>
            <a:pPr lvl="0"/>
            <a:r>
              <a:rPr lang="en-IN" sz="2800" dirty="0"/>
              <a:t>Data analysis can help identify patterns and relationships in agricultural performance. </a:t>
            </a:r>
          </a:p>
          <a:p>
            <a:pPr lvl="0"/>
            <a:r>
              <a:rPr lang="en-IN" sz="2800" dirty="0"/>
              <a:t>This project aims to provide data-driven insights for better agricultural decision-making.</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994F980F-A571-4BF3-ED12-5592450F6175}"/>
              </a:ext>
            </a:extLst>
          </p:cNvPr>
          <p:cNvSpPr txBox="1"/>
          <p:nvPr/>
        </p:nvSpPr>
        <p:spPr>
          <a:xfrm>
            <a:off x="660399" y="1798320"/>
            <a:ext cx="10038081" cy="3785652"/>
          </a:xfrm>
          <a:prstGeom prst="rect">
            <a:avLst/>
          </a:prstGeom>
          <a:noFill/>
        </p:spPr>
        <p:txBody>
          <a:bodyPr wrap="square" rtlCol="0">
            <a:spAutoFit/>
          </a:bodyPr>
          <a:lstStyle/>
          <a:p>
            <a:r>
              <a:rPr lang="en-IN" sz="2000" dirty="0"/>
              <a:t>This project focuses on </a:t>
            </a:r>
            <a:r>
              <a:rPr lang="en-IN" sz="2000" dirty="0" err="1"/>
              <a:t>analyzing</a:t>
            </a:r>
            <a:r>
              <a:rPr lang="en-IN" sz="2000" dirty="0"/>
              <a:t> seasonal agricultural performance using data analytics techniques. The dataset contains information related to different crops, seasons, regions, environmental conditions, soil characteristics, farming practices, water usage, yield, production, and economic performance.</a:t>
            </a:r>
          </a:p>
          <a:p>
            <a:r>
              <a:rPr lang="en-IN" sz="2000" dirty="0"/>
              <a:t>The project aims to identify patterns and relationships between these factors and understand how they influence crop productivity, resource efficiency, and farm profitability. The analysis involves data preprocessing, exploratory data analysis, statistical analysis, and visualization to generate meaningful insights.</a:t>
            </a:r>
          </a:p>
          <a:p>
            <a:r>
              <a:rPr lang="en-IN" sz="2000" dirty="0"/>
              <a:t>The findings can help in understanding variations in agricultural performance across seasons and crops and support data-driven decision-making for improving agricultural productivity and profitability.</a:t>
            </a:r>
          </a:p>
          <a:p>
            <a:endParaRPr lang="en-IN" sz="20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70000" lnSpcReduction="20000"/>
          </a:bodyPr>
          <a:lstStyle/>
          <a:p>
            <a:pPr lvl="0"/>
            <a:r>
              <a:rPr lang="en-IN" sz="3600" b="1" dirty="0"/>
              <a:t>Farmers</a:t>
            </a:r>
            <a:r>
              <a:rPr lang="en-IN" sz="3600" dirty="0"/>
              <a:t> – To understand crop performance, profitability, and resource efficiency.</a:t>
            </a:r>
          </a:p>
          <a:p>
            <a:pPr lvl="0"/>
            <a:r>
              <a:rPr lang="en-IN" sz="3600" b="1" dirty="0"/>
              <a:t>Agricultural Planners &amp; Experts</a:t>
            </a:r>
            <a:r>
              <a:rPr lang="en-IN" sz="3600" dirty="0"/>
              <a:t> – To support data-driven agricultural planning and decision-making.</a:t>
            </a:r>
          </a:p>
          <a:p>
            <a:pPr lvl="0"/>
            <a:r>
              <a:rPr lang="en-IN" sz="3600" b="1" dirty="0"/>
              <a:t>Agribusinesses</a:t>
            </a:r>
            <a:r>
              <a:rPr lang="en-IN" sz="3600" dirty="0"/>
              <a:t> – To evaluate crop performance, production costs, and profitability.</a:t>
            </a:r>
          </a:p>
          <a:p>
            <a:pPr lvl="0"/>
            <a:r>
              <a:rPr lang="en-IN" sz="3600" b="1" dirty="0"/>
              <a:t>Researchers &amp; Students</a:t>
            </a:r>
            <a:r>
              <a:rPr lang="en-IN" sz="3600" dirty="0"/>
              <a:t> – To study agricultural trends and relationships between different factors.</a:t>
            </a:r>
          </a:p>
          <a:p>
            <a:pPr lvl="0"/>
            <a:r>
              <a:rPr lang="en-IN" sz="3600" b="1" dirty="0"/>
              <a:t>Government &amp; Agricultural Departments</a:t>
            </a:r>
            <a:r>
              <a:rPr lang="en-IN" sz="3600" dirty="0"/>
              <a:t> – To support evidence-based agricultural policies and resource planning.</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0"/>
            <a:r>
              <a:rPr lang="en-IN" b="1" dirty="0"/>
              <a:t>Python</a:t>
            </a:r>
            <a:r>
              <a:rPr lang="en-IN" dirty="0"/>
              <a:t> – Data analysis and preprocessing</a:t>
            </a:r>
          </a:p>
          <a:p>
            <a:pPr lvl="0"/>
            <a:r>
              <a:rPr lang="en-IN" b="1" dirty="0"/>
              <a:t>Pandas &amp; NumPy</a:t>
            </a:r>
            <a:r>
              <a:rPr lang="en-IN" dirty="0"/>
              <a:t> – Data manipulation and numerical analysis</a:t>
            </a:r>
          </a:p>
          <a:p>
            <a:pPr lvl="0"/>
            <a:r>
              <a:rPr lang="en-IN" b="1" dirty="0"/>
              <a:t>Matplotlib &amp; Seaborn</a:t>
            </a:r>
            <a:r>
              <a:rPr lang="en-IN" dirty="0"/>
              <a:t> – Data visualization</a:t>
            </a:r>
          </a:p>
          <a:p>
            <a:pPr lvl="0"/>
            <a:r>
              <a:rPr lang="en-IN" b="1" dirty="0"/>
              <a:t>Jupyter Notebook / Google </a:t>
            </a:r>
            <a:r>
              <a:rPr lang="en-IN" b="1" dirty="0" err="1"/>
              <a:t>Colab</a:t>
            </a:r>
            <a:r>
              <a:rPr lang="en-IN" dirty="0"/>
              <a:t> – Analysis and implementation environment</a:t>
            </a:r>
          </a:p>
          <a:p>
            <a:pPr lvl="0"/>
            <a:r>
              <a:rPr lang="en-IN" b="1" dirty="0"/>
              <a:t>CSV Dataset</a:t>
            </a:r>
            <a:r>
              <a:rPr lang="en-IN" dirty="0"/>
              <a:t> – Data storage and input format</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IN" dirty="0"/>
          </a:p>
        </p:txBody>
      </p:sp>
      <p:pic>
        <p:nvPicPr>
          <p:cNvPr id="12" name="Picture 11">
            <a:extLst>
              <a:ext uri="{FF2B5EF4-FFF2-40B4-BE49-F238E27FC236}">
                <a16:creationId xmlns:a16="http://schemas.microsoft.com/office/drawing/2014/main" id="{F33DC826-B66B-6F97-726F-0EE6EDEE4523}"/>
              </a:ext>
            </a:extLst>
          </p:cNvPr>
          <p:cNvPicPr>
            <a:picLocks noChangeAspect="1"/>
          </p:cNvPicPr>
          <p:nvPr/>
        </p:nvPicPr>
        <p:blipFill>
          <a:blip r:embed="rId3"/>
          <a:stretch>
            <a:fillRect/>
          </a:stretch>
        </p:blipFill>
        <p:spPr>
          <a:xfrm>
            <a:off x="684408" y="1201586"/>
            <a:ext cx="7849994" cy="3466603"/>
          </a:xfrm>
          <a:prstGeom prst="rect">
            <a:avLst/>
          </a:prstGeom>
        </p:spPr>
      </p:pic>
      <p:pic>
        <p:nvPicPr>
          <p:cNvPr id="14" name="Picture 13">
            <a:extLst>
              <a:ext uri="{FF2B5EF4-FFF2-40B4-BE49-F238E27FC236}">
                <a16:creationId xmlns:a16="http://schemas.microsoft.com/office/drawing/2014/main" id="{02C231E0-77D6-233A-930E-7C39C24BCD4D}"/>
              </a:ext>
            </a:extLst>
          </p:cNvPr>
          <p:cNvPicPr>
            <a:picLocks noChangeAspect="1"/>
          </p:cNvPicPr>
          <p:nvPr/>
        </p:nvPicPr>
        <p:blipFill>
          <a:blip r:embed="rId4"/>
          <a:stretch>
            <a:fillRect/>
          </a:stretch>
        </p:blipFill>
        <p:spPr>
          <a:xfrm>
            <a:off x="6573050" y="4697917"/>
            <a:ext cx="4942993" cy="1916994"/>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13EE5430-08AE-EE94-96AE-945757582844}"/>
              </a:ext>
            </a:extLst>
          </p:cNvPr>
          <p:cNvPicPr>
            <a:picLocks noChangeAspect="1"/>
          </p:cNvPicPr>
          <p:nvPr/>
        </p:nvPicPr>
        <p:blipFill>
          <a:blip r:embed="rId3"/>
          <a:stretch>
            <a:fillRect/>
          </a:stretch>
        </p:blipFill>
        <p:spPr>
          <a:xfrm>
            <a:off x="807164" y="1068890"/>
            <a:ext cx="6140766" cy="3847662"/>
          </a:xfrm>
          <a:prstGeom prst="rect">
            <a:avLst/>
          </a:prstGeom>
        </p:spPr>
      </p:pic>
      <p:pic>
        <p:nvPicPr>
          <p:cNvPr id="9" name="Picture 8">
            <a:extLst>
              <a:ext uri="{FF2B5EF4-FFF2-40B4-BE49-F238E27FC236}">
                <a16:creationId xmlns:a16="http://schemas.microsoft.com/office/drawing/2014/main" id="{28789B98-30B7-132B-3F47-713E61C6D1B2}"/>
              </a:ext>
            </a:extLst>
          </p:cNvPr>
          <p:cNvPicPr>
            <a:picLocks noChangeAspect="1"/>
          </p:cNvPicPr>
          <p:nvPr/>
        </p:nvPicPr>
        <p:blipFill>
          <a:blip r:embed="rId4"/>
          <a:stretch>
            <a:fillRect/>
          </a:stretch>
        </p:blipFill>
        <p:spPr>
          <a:xfrm>
            <a:off x="5976780" y="5002804"/>
            <a:ext cx="5539263" cy="171848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E7693AB6-22B5-30A7-D85A-0798990C2A35}"/>
              </a:ext>
            </a:extLst>
          </p:cNvPr>
          <p:cNvPicPr>
            <a:picLocks noChangeAspect="1"/>
          </p:cNvPicPr>
          <p:nvPr/>
        </p:nvPicPr>
        <p:blipFill>
          <a:blip r:embed="rId3"/>
          <a:stretch>
            <a:fillRect/>
          </a:stretch>
        </p:blipFill>
        <p:spPr>
          <a:xfrm>
            <a:off x="675956" y="1275370"/>
            <a:ext cx="9166720" cy="3885910"/>
          </a:xfrm>
          <a:prstGeom prst="rect">
            <a:avLst/>
          </a:prstGeom>
        </p:spPr>
      </p:pic>
      <p:pic>
        <p:nvPicPr>
          <p:cNvPr id="9" name="Picture 8">
            <a:extLst>
              <a:ext uri="{FF2B5EF4-FFF2-40B4-BE49-F238E27FC236}">
                <a16:creationId xmlns:a16="http://schemas.microsoft.com/office/drawing/2014/main" id="{37057EB1-48BC-5D10-F728-DE467C26FCAC}"/>
              </a:ext>
            </a:extLst>
          </p:cNvPr>
          <p:cNvPicPr>
            <a:picLocks noChangeAspect="1"/>
          </p:cNvPicPr>
          <p:nvPr/>
        </p:nvPicPr>
        <p:blipFill>
          <a:blip r:embed="rId4"/>
          <a:stretch>
            <a:fillRect/>
          </a:stretch>
        </p:blipFill>
        <p:spPr>
          <a:xfrm>
            <a:off x="675956" y="5426307"/>
            <a:ext cx="9166719" cy="1225613"/>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EB2CF596-4C83-F1E5-7CE7-00F9F1ADD583}"/>
              </a:ext>
            </a:extLst>
          </p:cNvPr>
          <p:cNvPicPr>
            <a:picLocks noChangeAspect="1"/>
          </p:cNvPicPr>
          <p:nvPr/>
        </p:nvPicPr>
        <p:blipFill>
          <a:blip r:embed="rId3"/>
          <a:stretch>
            <a:fillRect/>
          </a:stretch>
        </p:blipFill>
        <p:spPr>
          <a:xfrm>
            <a:off x="675957" y="1201586"/>
            <a:ext cx="7569589" cy="4743694"/>
          </a:xfrm>
          <a:prstGeom prst="rect">
            <a:avLst/>
          </a:prstGeom>
        </p:spPr>
      </p:pic>
      <p:pic>
        <p:nvPicPr>
          <p:cNvPr id="9" name="Picture 8">
            <a:extLst>
              <a:ext uri="{FF2B5EF4-FFF2-40B4-BE49-F238E27FC236}">
                <a16:creationId xmlns:a16="http://schemas.microsoft.com/office/drawing/2014/main" id="{1C345098-A7DA-468B-A3B0-52180208EF57}"/>
              </a:ext>
            </a:extLst>
          </p:cNvPr>
          <p:cNvPicPr>
            <a:picLocks noChangeAspect="1"/>
          </p:cNvPicPr>
          <p:nvPr/>
        </p:nvPicPr>
        <p:blipFill>
          <a:blip r:embed="rId4"/>
          <a:stretch>
            <a:fillRect/>
          </a:stretch>
        </p:blipFill>
        <p:spPr>
          <a:xfrm>
            <a:off x="8367273" y="5015311"/>
            <a:ext cx="3591047" cy="145660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A017A689-0FCC-56B3-1DF4-F85E1C5598A0}"/>
              </a:ext>
            </a:extLst>
          </p:cNvPr>
          <p:cNvPicPr>
            <a:picLocks noChangeAspect="1"/>
          </p:cNvPicPr>
          <p:nvPr/>
        </p:nvPicPr>
        <p:blipFill>
          <a:blip r:embed="rId3"/>
          <a:stretch>
            <a:fillRect/>
          </a:stretch>
        </p:blipFill>
        <p:spPr>
          <a:xfrm>
            <a:off x="447510" y="1151032"/>
            <a:ext cx="4634792" cy="5186706"/>
          </a:xfrm>
          <a:prstGeom prst="rect">
            <a:avLst/>
          </a:prstGeom>
        </p:spPr>
      </p:pic>
      <p:pic>
        <p:nvPicPr>
          <p:cNvPr id="9" name="Picture 8">
            <a:extLst>
              <a:ext uri="{FF2B5EF4-FFF2-40B4-BE49-F238E27FC236}">
                <a16:creationId xmlns:a16="http://schemas.microsoft.com/office/drawing/2014/main" id="{F7418A22-AE17-64B2-7570-8F9FC998CCC9}"/>
              </a:ext>
            </a:extLst>
          </p:cNvPr>
          <p:cNvPicPr>
            <a:picLocks noChangeAspect="1"/>
          </p:cNvPicPr>
          <p:nvPr/>
        </p:nvPicPr>
        <p:blipFill>
          <a:blip r:embed="rId4"/>
          <a:stretch>
            <a:fillRect/>
          </a:stretch>
        </p:blipFill>
        <p:spPr>
          <a:xfrm>
            <a:off x="5174593" y="2769112"/>
            <a:ext cx="6712607" cy="1659804"/>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675956" y="1275370"/>
            <a:ext cx="9250363" cy="482063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a:extLst>
              <a:ext uri="{FF2B5EF4-FFF2-40B4-BE49-F238E27FC236}">
                <a16:creationId xmlns:a16="http://schemas.microsoft.com/office/drawing/2014/main" id="{E8B6B8C4-1A7A-2506-1AFF-24A5C9D8D45D}"/>
              </a:ext>
            </a:extLst>
          </p:cNvPr>
          <p:cNvSpPr txBox="1"/>
          <p:nvPr/>
        </p:nvSpPr>
        <p:spPr>
          <a:xfrm>
            <a:off x="675956" y="1432560"/>
            <a:ext cx="8475664" cy="3477875"/>
          </a:xfrm>
          <a:prstGeom prst="rect">
            <a:avLst/>
          </a:prstGeom>
          <a:noFill/>
        </p:spPr>
        <p:txBody>
          <a:bodyPr wrap="square">
            <a:spAutoFit/>
          </a:bodyPr>
          <a:lstStyle/>
          <a:p>
            <a:pPr marL="342900" lvl="0" indent="-342900">
              <a:buFont typeface="Arial" panose="020B0604020202020204" pitchFamily="34" charset="0"/>
              <a:buChar char="•"/>
            </a:pPr>
            <a:r>
              <a:rPr lang="en-IN" sz="2000" b="1" dirty="0"/>
              <a:t>Crop Yield Prediction</a:t>
            </a:r>
            <a:r>
              <a:rPr lang="en-IN" sz="2000" dirty="0"/>
              <a:t> – Develop models to forecast crop yield.</a:t>
            </a:r>
          </a:p>
          <a:p>
            <a:pPr marL="342900" lvl="0" indent="-342900">
              <a:buFont typeface="Arial" panose="020B0604020202020204" pitchFamily="34" charset="0"/>
              <a:buChar char="•"/>
            </a:pPr>
            <a:r>
              <a:rPr lang="en-IN" sz="2000" b="1" dirty="0"/>
              <a:t>Crop Recommendation</a:t>
            </a:r>
            <a:r>
              <a:rPr lang="en-IN" sz="2000" dirty="0"/>
              <a:t> – Recommend suitable crops based on soil and environmental conditions.</a:t>
            </a:r>
          </a:p>
          <a:p>
            <a:pPr marL="342900" lvl="0" indent="-342900">
              <a:buFont typeface="Arial" panose="020B0604020202020204" pitchFamily="34" charset="0"/>
              <a:buChar char="•"/>
            </a:pPr>
            <a:r>
              <a:rPr lang="en-IN" sz="2000" b="1" dirty="0"/>
              <a:t>Weather Integration</a:t>
            </a:r>
            <a:r>
              <a:rPr lang="en-IN" sz="2000" dirty="0"/>
              <a:t> – Incorporate real-time and historical weather data.</a:t>
            </a:r>
          </a:p>
          <a:p>
            <a:pPr marL="342900" lvl="0" indent="-342900">
              <a:buFont typeface="Arial" panose="020B0604020202020204" pitchFamily="34" charset="0"/>
              <a:buChar char="•"/>
            </a:pPr>
            <a:r>
              <a:rPr lang="en-IN" sz="2000" b="1" dirty="0"/>
              <a:t>Resource Optimization</a:t>
            </a:r>
            <a:r>
              <a:rPr lang="en-IN" sz="2000" dirty="0"/>
              <a:t> – Improve water, fertilizer, and pesticide utilization.</a:t>
            </a:r>
          </a:p>
          <a:p>
            <a:pPr marL="342900" lvl="0" indent="-342900">
              <a:buFont typeface="Arial" panose="020B0604020202020204" pitchFamily="34" charset="0"/>
              <a:buChar char="•"/>
            </a:pPr>
            <a:r>
              <a:rPr lang="en-IN" sz="2000" b="1" dirty="0"/>
              <a:t>Interactive Dashboard</a:t>
            </a:r>
            <a:r>
              <a:rPr lang="en-IN" sz="2000" dirty="0"/>
              <a:t> – Develop dashboards for real-time agricultural insights.</a:t>
            </a:r>
          </a:p>
          <a:p>
            <a:pPr marL="342900" lvl="0" indent="-342900">
              <a:buFont typeface="Arial" panose="020B0604020202020204" pitchFamily="34" charset="0"/>
              <a:buChar char="•"/>
            </a:pPr>
            <a:r>
              <a:rPr lang="en-IN" sz="2000" b="1" dirty="0"/>
              <a:t>Advanced Analytics</a:t>
            </a:r>
            <a:r>
              <a:rPr lang="en-IN" sz="2000" dirty="0"/>
              <a:t> – Apply machine learning for better prediction and decision-making.</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682</TotalTime>
  <Words>456</Words>
  <Application>Microsoft Office PowerPoint</Application>
  <PresentationFormat>Widescreen</PresentationFormat>
  <Paragraphs>49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Title:-Seasonal_Agriculture_Performance_Data_Analytics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Sanskruti Dumbre</cp:lastModifiedBy>
  <cp:revision>98</cp:revision>
  <dcterms:created xsi:type="dcterms:W3CDTF">2021-07-11T13:13:15Z</dcterms:created>
  <dcterms:modified xsi:type="dcterms:W3CDTF">2026-09-09T19:31:36Z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